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8" r:id="rId9"/>
    <p:sldId id="2147470491" r:id="rId10"/>
    <p:sldId id="214747048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Project Title</a:t>
            </a:r>
          </a:p>
          <a:p>
            <a:pPr lvl="0" algn="ctr">
              <a:defRPr/>
            </a:pPr>
            <a:endParaRPr lang="en-IN" sz="3600" b="1" dirty="0">
              <a:solidFill>
                <a:schemeClr val="bg1"/>
              </a:solidFill>
            </a:endParaRP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PROCURE BOT – Intelligent Procurement and Vendor Quality Assurance Assistant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 Syed </a:t>
            </a: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ali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Fathima</a:t>
            </a:r>
            <a:b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</a:b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2025-27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8"/>
            <a:ext cx="11642090" cy="5084235"/>
          </a:xfrm>
        </p:spPr>
        <p:txBody>
          <a:bodyPr/>
          <a:lstStyle/>
          <a:p>
            <a:pPr lvl="0"/>
            <a:r>
              <a:rPr lang="en-IN" sz="2400" dirty="0"/>
              <a:t>Procurement is a critical business function responsible for sourcing raw materials, components, products, and services from suppliers. </a:t>
            </a:r>
          </a:p>
          <a:p>
            <a:pPr lvl="0"/>
            <a:r>
              <a:rPr lang="en-IN" sz="2400" dirty="0"/>
              <a:t>Procurement information is often distributed across purchase orders, vendor records, quotations, invoices, contracts, and policy documents. </a:t>
            </a:r>
          </a:p>
          <a:p>
            <a:pPr lvl="0"/>
            <a:r>
              <a:rPr lang="en-IN" sz="2400" dirty="0"/>
              <a:t>Manual information retrieval and vendor evaluation can be time-consuming and may delay procurement decisions. </a:t>
            </a:r>
          </a:p>
          <a:p>
            <a:pPr lvl="0"/>
            <a:r>
              <a:rPr lang="en-IN" sz="2400" dirty="0"/>
              <a:t>Vendor quality assurance requires continuous monitoring of supplier delivery performance, defective units, compliance, pricing, and historical performance. </a:t>
            </a:r>
          </a:p>
          <a:p>
            <a:pPr lvl="0"/>
            <a:r>
              <a:rPr lang="en-IN" sz="2400" dirty="0"/>
              <a:t>Procure Bot is proposed as an AI-powered RAG-based assistant that enables natural-language procurement queries and provides data-driven insights for vendor evaluation and procurement decision support.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511461" cy="4142989"/>
          </a:xfrm>
        </p:spPr>
        <p:txBody>
          <a:bodyPr/>
          <a:lstStyle/>
          <a:p>
            <a:pPr lvl="0"/>
            <a:r>
              <a:rPr lang="en-IN" sz="2400" dirty="0"/>
              <a:t>To develop an AI-powered procurement assistant for intelligent access to procurement and vendor information. </a:t>
            </a:r>
          </a:p>
          <a:p>
            <a:pPr lvl="0"/>
            <a:r>
              <a:rPr lang="en-IN" sz="2400" dirty="0"/>
              <a:t>To enable natural-language querying of purchase orders, supplier records, pricing, delivery, and compliance data. </a:t>
            </a:r>
          </a:p>
          <a:p>
            <a:pPr lvl="0"/>
            <a:r>
              <a:rPr lang="en-IN" sz="2400" dirty="0"/>
              <a:t>To evaluate vendor quality and performance using indicators such as defects, delivery performance, and compliance. </a:t>
            </a:r>
          </a:p>
          <a:p>
            <a:pPr lvl="0"/>
            <a:r>
              <a:rPr lang="en-IN" sz="2400" dirty="0"/>
              <a:t>To support procurement decision-making through relevant, data-driven insights retrieved using RAG. </a:t>
            </a:r>
          </a:p>
          <a:p>
            <a:pPr lvl="0"/>
            <a:r>
              <a:rPr lang="en-IN" sz="2400" dirty="0"/>
              <a:t>To automate procurement assistance tasks, including compliance alerts and generation of RFQ/supplier communication drafts.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794490" cy="4142989"/>
          </a:xfrm>
        </p:spPr>
        <p:txBody>
          <a:bodyPr/>
          <a:lstStyle/>
          <a:p>
            <a:pPr lvl="0"/>
            <a:r>
              <a:rPr lang="en-IN" sz="2400" dirty="0"/>
              <a:t>Pre-Procurement Intelligence – Identify requirements, </a:t>
            </a:r>
            <a:r>
              <a:rPr lang="en-IN" sz="2400" dirty="0" err="1"/>
              <a:t>analyze</a:t>
            </a:r>
            <a:r>
              <a:rPr lang="en-IN" sz="2400" dirty="0"/>
              <a:t> raw-material needs, evaluate historical purchases, pricing trends, and vendor performance. </a:t>
            </a:r>
          </a:p>
          <a:p>
            <a:pPr lvl="0"/>
            <a:r>
              <a:rPr lang="en-IN" sz="2400" dirty="0"/>
              <a:t>Vendor Selection &amp; Procurement – Verify approved vendors, generate RFQs, retrieve quotations, compare suppliers, and support Purchase Order processing. </a:t>
            </a:r>
          </a:p>
          <a:p>
            <a:pPr lvl="0"/>
            <a:r>
              <a:rPr lang="en-IN" sz="2400" dirty="0"/>
              <a:t>Compliance &amp; Risk Management – Validate procurement activities against organizational policies, contractual requirements, and compliance standards. </a:t>
            </a:r>
          </a:p>
          <a:p>
            <a:pPr lvl="0"/>
            <a:r>
              <a:rPr lang="en-IN" sz="2400" dirty="0"/>
              <a:t>Post-Procurement Monitoring – Track deliveries, </a:t>
            </a:r>
            <a:r>
              <a:rPr lang="en-IN" sz="2400" dirty="0" err="1"/>
              <a:t>analyze</a:t>
            </a:r>
            <a:r>
              <a:rPr lang="en-IN" sz="2400" dirty="0"/>
              <a:t> defects, evaluate supplier quality and performance, monitor compliance, and recommend vendor reviews.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21274" y="45966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3C88F0-26B9-D3F6-543F-27284CE53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907583"/>
              </p:ext>
            </p:extLst>
          </p:nvPr>
        </p:nvGraphicFramePr>
        <p:xfrm>
          <a:off x="240191" y="948804"/>
          <a:ext cx="11707404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038">
                  <a:extLst>
                    <a:ext uri="{9D8B030D-6E8A-4147-A177-3AD203B41FA5}">
                      <a16:colId xmlns:a16="http://schemas.microsoft.com/office/drawing/2014/main" val="1025914725"/>
                    </a:ext>
                  </a:extLst>
                </a:gridCol>
                <a:gridCol w="2493305">
                  <a:extLst>
                    <a:ext uri="{9D8B030D-6E8A-4147-A177-3AD203B41FA5}">
                      <a16:colId xmlns:a16="http://schemas.microsoft.com/office/drawing/2014/main" val="3868432162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51264886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899082249"/>
                    </a:ext>
                  </a:extLst>
                </a:gridCol>
                <a:gridCol w="1883229">
                  <a:extLst>
                    <a:ext uri="{9D8B030D-6E8A-4147-A177-3AD203B41FA5}">
                      <a16:colId xmlns:a16="http://schemas.microsoft.com/office/drawing/2014/main" val="2158979678"/>
                    </a:ext>
                  </a:extLst>
                </a:gridCol>
                <a:gridCol w="2585175">
                  <a:extLst>
                    <a:ext uri="{9D8B030D-6E8A-4147-A177-3AD203B41FA5}">
                      <a16:colId xmlns:a16="http://schemas.microsoft.com/office/drawing/2014/main" val="2739372099"/>
                    </a:ext>
                  </a:extLst>
                </a:gridCol>
              </a:tblGrid>
              <a:tr h="821908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PAPER 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AUTHOR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CONFERENCE/JOURNAL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REFERENCE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622680"/>
                  </a:ext>
                </a:extLst>
              </a:tr>
              <a:tr h="1315053"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pPr algn="ctr"/>
                      <a:r>
                        <a:rPr lang="en-IN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Survey of Hallucination in Natural Language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Ziwei Ji, Nayeon Lee, Rita </a:t>
                      </a:r>
                      <a:r>
                        <a:rPr lang="en-IN" dirty="0" err="1"/>
                        <a:t>Frieske</a:t>
                      </a:r>
                      <a:r>
                        <a:rPr lang="en-IN" dirty="0"/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2023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ACM Computing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Highlights hallucination risks in generative AI, motivating grounded and evidence-based procurement responses.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473082"/>
                  </a:ext>
                </a:extLst>
              </a:tr>
              <a:tr h="1561625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2.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 Hybrid Multi-Criteria Decision-Making and Machine Learning Approach for Explainable Supplier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Authors of the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pPr algn="ctr"/>
                      <a:r>
                        <a:rPr lang="en-GB" dirty="0"/>
                        <a:t>2024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Supply Chain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Combines machine learning with MCDM to improve explainability in supplier selection.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241768"/>
                  </a:ext>
                </a:extLst>
              </a:tr>
              <a:tr h="1561625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dirty="0"/>
                        <a:t>3.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Enhancing Procurement Processes in Supply Chain Management with Large Language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r>
                        <a:rPr lang="en-IN" dirty="0"/>
                        <a:t>Research 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pPr algn="ctr"/>
                      <a:r>
                        <a:rPr lang="en-IN" dirty="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Procedia Computer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Studies LLMs for offer checking, summarization and supplier bid comparison, directly supporting AI-assisted procurement.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832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304633" cy="4142989"/>
          </a:xfrm>
        </p:spPr>
        <p:txBody>
          <a:bodyPr/>
          <a:lstStyle/>
          <a:p>
            <a:pPr lvl="0"/>
            <a:r>
              <a:rPr lang="en-IN" sz="2400" dirty="0"/>
              <a:t>Digital Procurement: Existing e-procurement systems improve purchasing efficiency but mainly depend on structured data, predefined workflows, and rule-based processes. </a:t>
            </a:r>
          </a:p>
          <a:p>
            <a:pPr lvl="0"/>
            <a:r>
              <a:rPr lang="en-IN" sz="2400" dirty="0"/>
              <a:t>Supplier Evaluation &amp; AI: MCDM, NLP, and machine-learning approaches support supplier selection, performance evaluation, and information retrieval, but often address individual procurement activities. </a:t>
            </a:r>
          </a:p>
          <a:p>
            <a:pPr lvl="0"/>
            <a:r>
              <a:rPr lang="en-IN" sz="2400" dirty="0"/>
              <a:t>RAG &amp; LLM Integration: RAG and LLMs enable intelligent, natural-language procurement assistance, but challenges such as data quality, hallucination, and compliance remain—highlighting the need for an integrated Procure-Bot combining retrieval, vendor analysis, and compliance support.</a:t>
            </a:r>
          </a:p>
          <a:p>
            <a:r>
              <a:rPr lang="en-IN" sz="2400" dirty="0"/>
              <a:t>Existing approaches often address supplier selection, procurement analytics, document retrieval, or LLM-based assistance separately.</a:t>
            </a:r>
          </a:p>
          <a:p>
            <a:pPr lvl="0"/>
            <a:endParaRPr lang="en-IN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21274" y="45966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467918" cy="4142989"/>
          </a:xfrm>
        </p:spPr>
        <p:txBody>
          <a:bodyPr/>
          <a:lstStyle/>
          <a:p>
            <a:pPr lvl="0"/>
            <a:r>
              <a:rPr lang="en-IN" sz="2400" dirty="0"/>
              <a:t>AI-powered RAG architecture enables accurate, context-aware responses using relevant procurement data. </a:t>
            </a:r>
          </a:p>
          <a:p>
            <a:pPr lvl="0"/>
            <a:r>
              <a:rPr lang="en-IN" sz="2400" dirty="0"/>
              <a:t>Vendor quality assurance evaluates supplier performance based on delivery, defects, compliance, and historical records. </a:t>
            </a:r>
          </a:p>
          <a:p>
            <a:pPr lvl="0"/>
            <a:r>
              <a:rPr lang="en-IN" sz="2400" dirty="0"/>
              <a:t>Natural-language interaction allows procurement teams to retrieve information without manually searching multiple documents. </a:t>
            </a:r>
          </a:p>
          <a:p>
            <a:pPr lvl="0"/>
            <a:r>
              <a:rPr lang="en-IN" sz="2400" dirty="0"/>
              <a:t>Local AI technologies such as Llama 3.1, </a:t>
            </a:r>
            <a:r>
              <a:rPr lang="en-IN" sz="2400" dirty="0" err="1"/>
              <a:t>Ollama</a:t>
            </a:r>
            <a:r>
              <a:rPr lang="en-IN" sz="2400" dirty="0"/>
              <a:t>, and </a:t>
            </a:r>
            <a:r>
              <a:rPr lang="en-IN" sz="2400" dirty="0" err="1"/>
              <a:t>Qdrant</a:t>
            </a:r>
            <a:r>
              <a:rPr lang="en-IN" sz="2400" dirty="0"/>
              <a:t> support a scalable and privacy-conscious architecture. </a:t>
            </a:r>
          </a:p>
          <a:p>
            <a:pPr lvl="0"/>
            <a:r>
              <a:rPr lang="en-IN" sz="2400" dirty="0"/>
              <a:t>Future integration can extend the system to ERP platforms, Microsoft Teams, real-time procurement data, and advanced vendor risk analytics.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Informati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453BD-DA2F-2306-34C7-D768A6B905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FLOWCHART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50B92D-7405-EEDB-F18B-61EBBE698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926" y="1328056"/>
            <a:ext cx="7441474" cy="54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89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500575" cy="4142989"/>
          </a:xfrm>
        </p:spPr>
        <p:txBody>
          <a:bodyPr/>
          <a:lstStyle/>
          <a:p>
            <a:pPr lvl="0"/>
            <a:r>
              <a:rPr lang="en-IN" dirty="0"/>
              <a:t>Data Ingestion &amp; Preprocessing: Collect, clean, normalize, and prepare procurement and vendor data. </a:t>
            </a:r>
          </a:p>
          <a:p>
            <a:pPr lvl="0"/>
            <a:r>
              <a:rPr lang="en-IN" dirty="0"/>
              <a:t>Document Processing &amp; Metadata Management: Process structured and unstructured procurement information with relevant metadata. </a:t>
            </a:r>
          </a:p>
          <a:p>
            <a:pPr lvl="0"/>
            <a:r>
              <a:rPr lang="en-IN" dirty="0"/>
              <a:t>Embedding &amp; Vector Database: Generate semantic embeddings and store procurement knowledge in </a:t>
            </a:r>
            <a:r>
              <a:rPr lang="en-IN" dirty="0" err="1"/>
              <a:t>Qdrant</a:t>
            </a:r>
            <a:r>
              <a:rPr lang="en-IN" dirty="0"/>
              <a:t> for efficient retrieval. </a:t>
            </a:r>
          </a:p>
          <a:p>
            <a:pPr lvl="0"/>
            <a:r>
              <a:rPr lang="en-IN" dirty="0"/>
              <a:t>RAG-Based Procurement Q&amp;A: Retrieve relevant information and generate context-grounded answers using Llama 3.1. </a:t>
            </a:r>
          </a:p>
          <a:p>
            <a:pPr lvl="0"/>
            <a:r>
              <a:rPr lang="en-IN" dirty="0"/>
              <a:t>Natural Language Query Interface: Enable procurement teams to interact with the system using simple, natural-language questions.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cover: core intelligence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348175" cy="444565"/>
          </a:xfrm>
        </p:spPr>
        <p:txBody>
          <a:bodyPr/>
          <a:lstStyle/>
          <a:p>
            <a:pPr lvl="0"/>
            <a:r>
              <a:rPr lang="en-IN" dirty="0"/>
              <a:t>Vendor Quality Assurance: Evaluate suppliers based on defects, delivery performance, compliance, and historical records. </a:t>
            </a:r>
          </a:p>
          <a:p>
            <a:pPr lvl="0"/>
            <a:r>
              <a:rPr lang="en-IN" dirty="0"/>
              <a:t>Procurement Compliance Checker: Identify potential policy violations, approval requirements, and non-compliant procurement activities. </a:t>
            </a:r>
          </a:p>
          <a:p>
            <a:pPr lvl="0"/>
            <a:r>
              <a:rPr lang="en-IN" dirty="0"/>
              <a:t>Vendor Performance Analysis: Compare supplier performance and identify vendors requiring review or improvement. </a:t>
            </a:r>
          </a:p>
          <a:p>
            <a:pPr lvl="0"/>
            <a:r>
              <a:rPr lang="en-IN" dirty="0"/>
              <a:t>RFQ Generation &amp; Supplier Assistance: Generate structured, ready-to-edit RFQ and supplier communication drafts from procurement requirements. </a:t>
            </a:r>
          </a:p>
          <a:p>
            <a:pPr lvl="0"/>
            <a:r>
              <a:rPr lang="en-IN" dirty="0"/>
              <a:t>Procurement Decision </a:t>
            </a:r>
            <a:r>
              <a:rPr lang="en-IN" dirty="0" err="1"/>
              <a:t>Support:Provide</a:t>
            </a:r>
            <a:r>
              <a:rPr lang="en-IN" dirty="0"/>
              <a:t> actionable insights to help procurement teams make faster and more informed purchasing decisions.</a:t>
            </a:r>
          </a:p>
          <a:p>
            <a:pPr marL="0" indent="0">
              <a:buNone/>
            </a:pPr>
            <a:endParaRPr lang="en-US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46596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 </a:t>
            </a:r>
            <a:r>
              <a:rPr lang="en-IN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Procurement Intelligence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883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Syed Ali Fathima S</cp:lastModifiedBy>
  <cp:revision>24</cp:revision>
  <dcterms:created xsi:type="dcterms:W3CDTF">2024-05-13T10:33:11Z</dcterms:created>
  <dcterms:modified xsi:type="dcterms:W3CDTF">2026-10-07T20:03:28Z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